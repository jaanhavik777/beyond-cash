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60" r:id="rId12"/>
    <p:sldId id="261" r:id="rId13"/>
    <p:sldId id="259" r:id="rId9"/>
    <p:sldId id="262" r:id="rId14"/>
    <p:sldId id="263" r:id="rId15"/>
    <p:sldId id="264" r:id="rId16"/>
    <p:sldId id="265" r:id="rId17"/>
  </p:sldIdLst>
  <p:sldSz cx="18288000" cy="10287000"/>
  <p:notesSz cx="6858000" cy="9144000"/>
  <p:embeddedFontLst>
    <p:embeddedFont>
      <p:font typeface="Arimo Bold" charset="1" panose="020B0704020202020204"/>
      <p:regular r:id="rId10"/>
    </p:embeddedFont>
    <p:embeddedFont>
      <p:font typeface="Glacial Indifference" charset="1" panose="00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6.xml"/><Relationship Id="rId10" Type="http://schemas.openxmlformats.org/officeDocument/2006/relationships/font" Target="fonts/font10.fntdata"/><Relationship Id="rId11" Type="http://schemas.openxmlformats.org/officeDocument/2006/relationships/font" Target="fonts/font11.fntdata"/><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41408" y="8229600"/>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6218380" y="-2057400"/>
            <a:ext cx="2611028" cy="4114800"/>
          </a:xfrm>
          <a:custGeom>
            <a:avLst/>
            <a:gdLst/>
            <a:ahLst/>
            <a:cxnLst/>
            <a:rect r="r" b="b" t="t" l="l"/>
            <a:pathLst>
              <a:path h="4114800" w="2611028">
                <a:moveTo>
                  <a:pt x="0" y="4114800"/>
                </a:moveTo>
                <a:lnTo>
                  <a:pt x="2611028" y="4114800"/>
                </a:lnTo>
                <a:lnTo>
                  <a:pt x="2611028"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93302" y="3000746"/>
            <a:ext cx="16501397" cy="3508376"/>
          </a:xfrm>
          <a:prstGeom prst="rect">
            <a:avLst/>
          </a:prstGeom>
        </p:spPr>
        <p:txBody>
          <a:bodyPr anchor="t" rtlCol="false" tIns="0" lIns="0" bIns="0" rIns="0">
            <a:spAutoFit/>
          </a:bodyPr>
          <a:lstStyle/>
          <a:p>
            <a:pPr algn="ctr">
              <a:lnSpc>
                <a:spcPts val="13999"/>
              </a:lnSpc>
            </a:pPr>
            <a:r>
              <a:rPr lang="en-US" b="true" sz="9999">
                <a:solidFill>
                  <a:srgbClr val="000000"/>
                </a:solidFill>
                <a:latin typeface="Arimo Bold"/>
                <a:ea typeface="Arimo Bold"/>
                <a:cs typeface="Arimo Bold"/>
                <a:sym typeface="Arimo Bold"/>
              </a:rPr>
              <a:t>INDIA'S DIGITAL PAYMENT REVOLUTION</a:t>
            </a:r>
          </a:p>
        </p:txBody>
      </p:sp>
      <p:sp>
        <p:nvSpPr>
          <p:cNvPr name="Freeform 5" id="5"/>
          <p:cNvSpPr/>
          <p:nvPr/>
        </p:nvSpPr>
        <p:spPr>
          <a:xfrm flipH="false" flipV="false" rot="0">
            <a:off x="3275867" y="9531889"/>
            <a:ext cx="1510221" cy="1510221"/>
          </a:xfrm>
          <a:custGeom>
            <a:avLst/>
            <a:gdLst/>
            <a:ahLst/>
            <a:cxnLst/>
            <a:rect r="r" b="b" t="t" l="l"/>
            <a:pathLst>
              <a:path h="1510221" w="1510221">
                <a:moveTo>
                  <a:pt x="0" y="0"/>
                </a:moveTo>
                <a:lnTo>
                  <a:pt x="1510221" y="0"/>
                </a:lnTo>
                <a:lnTo>
                  <a:pt x="1510221" y="1510222"/>
                </a:lnTo>
                <a:lnTo>
                  <a:pt x="0" y="1510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501912" y="-755111"/>
            <a:ext cx="1510221" cy="1510221"/>
          </a:xfrm>
          <a:custGeom>
            <a:avLst/>
            <a:gdLst/>
            <a:ahLst/>
            <a:cxnLst/>
            <a:rect r="r" b="b" t="t" l="l"/>
            <a:pathLst>
              <a:path h="1510221" w="1510221">
                <a:moveTo>
                  <a:pt x="0" y="0"/>
                </a:moveTo>
                <a:lnTo>
                  <a:pt x="1510221" y="0"/>
                </a:lnTo>
                <a:lnTo>
                  <a:pt x="1510221" y="1510222"/>
                </a:lnTo>
                <a:lnTo>
                  <a:pt x="0" y="15102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69365" y="-2672129"/>
            <a:ext cx="3745232" cy="3745232"/>
          </a:xfrm>
          <a:custGeom>
            <a:avLst/>
            <a:gdLst/>
            <a:ahLst/>
            <a:cxnLst/>
            <a:rect r="r" b="b" t="t" l="l"/>
            <a:pathLst>
              <a:path h="3745232" w="3745232">
                <a:moveTo>
                  <a:pt x="0" y="0"/>
                </a:moveTo>
                <a:lnTo>
                  <a:pt x="3745232" y="0"/>
                </a:lnTo>
                <a:lnTo>
                  <a:pt x="3745232" y="3745232"/>
                </a:lnTo>
                <a:lnTo>
                  <a:pt x="0" y="3745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47529" y="6694511"/>
            <a:ext cx="18983059" cy="863600"/>
          </a:xfrm>
          <a:prstGeom prst="rect">
            <a:avLst/>
          </a:prstGeom>
        </p:spPr>
        <p:txBody>
          <a:bodyPr anchor="t" rtlCol="false" tIns="0" lIns="0" bIns="0" rIns="0">
            <a:spAutoFit/>
          </a:bodyPr>
          <a:lstStyle/>
          <a:p>
            <a:pPr algn="ctr">
              <a:lnSpc>
                <a:spcPts val="7000"/>
              </a:lnSpc>
            </a:pPr>
            <a:r>
              <a:rPr lang="en-US" sz="5000">
                <a:solidFill>
                  <a:srgbClr val="000000"/>
                </a:solidFill>
                <a:latin typeface="Glacial Indifference"/>
                <a:ea typeface="Glacial Indifference"/>
                <a:cs typeface="Glacial Indifference"/>
                <a:sym typeface="Glacial Indifference"/>
              </a:rPr>
              <a:t>Understanding UPI's Role in Transforming Transaction Behaviour</a:t>
            </a:r>
          </a:p>
        </p:txBody>
      </p:sp>
      <p:sp>
        <p:nvSpPr>
          <p:cNvPr name="Freeform 9" id="9"/>
          <p:cNvSpPr/>
          <p:nvPr/>
        </p:nvSpPr>
        <p:spPr>
          <a:xfrm>
            <a:off x="764106" y="3243630"/>
            <a:ext cx="16761373" cy="1683490"/>
          </a:xfrm>
          <a:custGeom>
            <a:avLst/>
            <a:gdLst/>
            <a:ahLst/>
            <a:cxnLst/>
            <a:rect r="r" b="b" t="t" l="l"/>
            <a:pathLst>
              <a:path h="1683490" w="16761373">
                <a:moveTo>
                  <a:pt x="0" y="0"/>
                </a:moveTo>
                <a:lnTo>
                  <a:pt x="16532773" y="0"/>
                </a:lnTo>
                <a:cubicBezTo>
                  <a:pt x="16593402" y="0"/>
                  <a:pt x="16651547" y="24084"/>
                  <a:pt x="16694417" y="66955"/>
                </a:cubicBezTo>
                <a:cubicBezTo>
                  <a:pt x="16737289" y="109826"/>
                  <a:pt x="16761373" y="167971"/>
                  <a:pt x="16761373" y="228600"/>
                </a:cubicBezTo>
                <a:lnTo>
                  <a:pt x="16761373" y="1454890"/>
                </a:lnTo>
                <a:cubicBezTo>
                  <a:pt x="16761373" y="1581143"/>
                  <a:pt x="16659026" y="1683490"/>
                  <a:pt x="16532773" y="1683490"/>
                </a:cubicBezTo>
                <a:lnTo>
                  <a:pt x="14702389" y="1683490"/>
                </a:lnTo>
              </a:path>
            </a:pathLst>
          </a:custGeom>
          <a:ln cap="flat" w="38100">
            <a:solidFill>
              <a:srgbClr val="000000"/>
            </a:solidFill>
            <a:prstDash val="solid"/>
            <a:headEnd type="none" len="sm" w="sm"/>
            <a:tailEnd type="none" len="sm" w="sm"/>
          </a:ln>
        </p:spPr>
      </p:sp>
      <p:sp>
        <p:nvSpPr>
          <p:cNvPr name="Freeform 10" id="10"/>
          <p:cNvSpPr/>
          <p:nvPr/>
        </p:nvSpPr>
        <p:spPr>
          <a:xfrm>
            <a:off x="798805" y="4927120"/>
            <a:ext cx="16757945" cy="1582002"/>
          </a:xfrm>
          <a:custGeom>
            <a:avLst/>
            <a:gdLst/>
            <a:ahLst/>
            <a:cxnLst/>
            <a:rect r="r" b="b" t="t" l="l"/>
            <a:pathLst>
              <a:path h="1582002" w="16757945">
                <a:moveTo>
                  <a:pt x="2022701" y="0"/>
                </a:moveTo>
                <a:lnTo>
                  <a:pt x="228600" y="0"/>
                </a:lnTo>
                <a:cubicBezTo>
                  <a:pt x="167972" y="0"/>
                  <a:pt x="109827" y="24085"/>
                  <a:pt x="66956" y="66955"/>
                </a:cubicBezTo>
                <a:cubicBezTo>
                  <a:pt x="24085" y="109826"/>
                  <a:pt x="0" y="167972"/>
                  <a:pt x="0" y="228600"/>
                </a:cubicBezTo>
                <a:lnTo>
                  <a:pt x="0" y="1353402"/>
                </a:lnTo>
                <a:cubicBezTo>
                  <a:pt x="0" y="1414031"/>
                  <a:pt x="24085" y="1472176"/>
                  <a:pt x="66956" y="1515047"/>
                </a:cubicBezTo>
                <a:cubicBezTo>
                  <a:pt x="109827" y="1557917"/>
                  <a:pt x="167972" y="1582002"/>
                  <a:pt x="228600" y="1582002"/>
                </a:cubicBezTo>
                <a:lnTo>
                  <a:pt x="16757945" y="1582002"/>
                </a:lnTo>
              </a:path>
            </a:pathLst>
          </a:custGeom>
          <a:ln cap="flat" w="38100">
            <a:solidFill>
              <a:srgbClr val="000000"/>
            </a:solidFill>
            <a:prstDash val="solid"/>
            <a:headEnd type="none" len="sm" w="sm"/>
            <a:tailEnd type="none" len="sm" w="sm"/>
          </a:ln>
        </p:spPr>
      </p:sp>
      <p:sp>
        <p:nvSpPr>
          <p:cNvPr name="TextBox 11" id="11"/>
          <p:cNvSpPr txBox="true"/>
          <p:nvPr/>
        </p:nvSpPr>
        <p:spPr>
          <a:xfrm rot="0">
            <a:off x="1240451" y="2327646"/>
            <a:ext cx="15807099" cy="606425"/>
          </a:xfrm>
          <a:prstGeom prst="rect">
            <a:avLst/>
          </a:prstGeom>
        </p:spPr>
        <p:txBody>
          <a:bodyPr anchor="t" rtlCol="false" tIns="0" lIns="0" bIns="0" rIns="0">
            <a:spAutoFit/>
          </a:bodyPr>
          <a:lstStyle/>
          <a:p>
            <a:pPr algn="ctr">
              <a:lnSpc>
                <a:spcPts val="4900"/>
              </a:lnSpc>
            </a:pPr>
            <a:r>
              <a:rPr lang="en-US" sz="3500">
                <a:solidFill>
                  <a:srgbClr val="000000"/>
                </a:solidFill>
                <a:latin typeface="Glacial Indifference"/>
                <a:ea typeface="Glacial Indifference"/>
                <a:cs typeface="Glacial Indifference"/>
                <a:sym typeface="Glacial Indifference"/>
              </a:rPr>
              <a:t>Mini Project: Visualization of Data, Understanding and Interpretation</a:t>
            </a:r>
          </a:p>
        </p:txBody>
      </p:sp>
      <p:sp>
        <p:nvSpPr>
          <p:cNvPr name="TextBox 12" id="12"/>
          <p:cNvSpPr txBox="true"/>
          <p:nvPr/>
        </p:nvSpPr>
        <p:spPr>
          <a:xfrm rot="0">
            <a:off x="11935866" y="7777186"/>
            <a:ext cx="7968883" cy="2967382"/>
          </a:xfrm>
          <a:prstGeom prst="rect">
            <a:avLst/>
          </a:prstGeom>
        </p:spPr>
        <p:txBody>
          <a:bodyPr anchor="t" rtlCol="false" tIns="0" lIns="0" bIns="0" rIns="0">
            <a:spAutoFit/>
          </a:bodyPr>
          <a:lstStyle/>
          <a:p>
            <a:pPr algn="just">
              <a:lnSpc>
                <a:spcPts val="3918"/>
              </a:lnSpc>
            </a:pPr>
            <a:r>
              <a:rPr lang="en-US" sz="2798">
                <a:solidFill>
                  <a:srgbClr val="000000"/>
                </a:solidFill>
                <a:latin typeface="Glacial Indifference"/>
                <a:ea typeface="Glacial Indifference"/>
                <a:cs typeface="Glacial Indifference"/>
                <a:sym typeface="Glacial Indifference"/>
              </a:rPr>
              <a:t>Team Details:</a:t>
            </a:r>
          </a:p>
          <a:p>
            <a:pPr algn="just">
              <a:lnSpc>
                <a:spcPts val="3918"/>
              </a:lnSpc>
            </a:pPr>
            <a:r>
              <a:rPr lang="en-US" sz="2798">
                <a:solidFill>
                  <a:srgbClr val="000000"/>
                </a:solidFill>
                <a:latin typeface="Glacial Indifference"/>
                <a:ea typeface="Glacial Indifference"/>
                <a:cs typeface="Glacial Indifference"/>
                <a:sym typeface="Glacial Indifference"/>
              </a:rPr>
              <a:t>PES2UG24CS056: Amrit Raj Anmol</a:t>
            </a:r>
          </a:p>
          <a:p>
            <a:pPr algn="just">
              <a:lnSpc>
                <a:spcPts val="3918"/>
              </a:lnSpc>
            </a:pPr>
            <a:r>
              <a:rPr lang="en-US" sz="2798">
                <a:solidFill>
                  <a:srgbClr val="000000"/>
                </a:solidFill>
                <a:latin typeface="Glacial Indifference"/>
                <a:ea typeface="Glacial Indifference"/>
                <a:cs typeface="Glacial Indifference"/>
                <a:sym typeface="Glacial Indifference"/>
              </a:rPr>
              <a:t>PES2UG24CS199: Jaanhavi Ashwin Kher</a:t>
            </a:r>
          </a:p>
          <a:p>
            <a:pPr algn="just">
              <a:lnSpc>
                <a:spcPts val="3918"/>
              </a:lnSpc>
            </a:pPr>
            <a:r>
              <a:rPr lang="en-US" sz="2798">
                <a:solidFill>
                  <a:srgbClr val="000000"/>
                </a:solidFill>
                <a:latin typeface="Glacial Indifference"/>
                <a:ea typeface="Glacial Indifference"/>
                <a:cs typeface="Glacial Indifference"/>
                <a:sym typeface="Glacial Indifference"/>
              </a:rPr>
              <a:t>PES2UG24CS236: Krishna Manoj</a:t>
            </a:r>
          </a:p>
          <a:p>
            <a:pPr algn="just">
              <a:lnSpc>
                <a:spcPts val="3918"/>
              </a:lnSpc>
            </a:pPr>
            <a:r>
              <a:rPr lang="en-US" sz="2798">
                <a:solidFill>
                  <a:srgbClr val="000000"/>
                </a:solidFill>
                <a:latin typeface="Glacial Indifference"/>
                <a:ea typeface="Glacial Indifference"/>
                <a:cs typeface="Glacial Indifference"/>
                <a:sym typeface="Glacial Indifference"/>
              </a:rPr>
              <a:t>PES2UG24CS245: Kushi Niranjana</a:t>
            </a:r>
          </a:p>
          <a:p>
            <a:pPr algn="just">
              <a:lnSpc>
                <a:spcPts val="3918"/>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a:off x="0" y="1558925"/>
            <a:ext cx="5293134" cy="0"/>
          </a:xfrm>
          <a:custGeom>
            <a:avLst/>
            <a:gdLst/>
            <a:ahLst/>
            <a:cxnLst/>
            <a:rect r="r" b="b" t="t" l="l"/>
            <a:pathLst>
              <a:path h="0" w="5293134">
                <a:moveTo>
                  <a:pt x="0" y="0"/>
                </a:moveTo>
                <a:lnTo>
                  <a:pt x="5293134" y="0"/>
                </a:lnTo>
              </a:path>
            </a:pathLst>
          </a:custGeom>
          <a:ln cap="flat" w="38100">
            <a:solidFill>
              <a:srgbClr val="000000"/>
            </a:solidFill>
            <a:prstDash val="solid"/>
            <a:headEnd type="none" len="sm" w="sm"/>
            <a:tailEnd type="none" len="sm" w="sm"/>
          </a:ln>
        </p:spPr>
      </p:sp>
      <p:sp>
        <p:nvSpPr>
          <p:cNvPr name="Freeform 4" id="4"/>
          <p:cNvSpPr/>
          <p:nvPr/>
        </p:nvSpPr>
        <p:spPr>
          <a:xfrm flipH="false" flipV="false" rot="1693826">
            <a:off x="-2080113" y="8165817"/>
            <a:ext cx="3762484" cy="5929415"/>
          </a:xfrm>
          <a:custGeom>
            <a:avLst/>
            <a:gdLst/>
            <a:ahLst/>
            <a:cxnLst/>
            <a:rect r="r" b="b" t="t" l="l"/>
            <a:pathLst>
              <a:path h="5929415" w="3762484">
                <a:moveTo>
                  <a:pt x="0" y="0"/>
                </a:moveTo>
                <a:lnTo>
                  <a:pt x="3762484" y="0"/>
                </a:lnTo>
                <a:lnTo>
                  <a:pt x="3762484" y="5929416"/>
                </a:lnTo>
                <a:lnTo>
                  <a:pt x="0" y="59294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971139" y="2022475"/>
            <a:ext cx="14345722" cy="7991475"/>
          </a:xfrm>
          <a:prstGeom prst="rect">
            <a:avLst/>
          </a:prstGeom>
        </p:spPr>
        <p:txBody>
          <a:bodyPr anchor="t" rtlCol="false" tIns="0" lIns="0" bIns="0" rIns="0">
            <a:spAutoFit/>
          </a:bodyPr>
          <a:lstStyle/>
          <a:p>
            <a:pPr algn="just">
              <a:lnSpc>
                <a:spcPts val="4200"/>
              </a:lnSpc>
            </a:pPr>
            <a:r>
              <a:rPr lang="en-US" sz="3000">
                <a:solidFill>
                  <a:srgbClr val="000000"/>
                </a:solidFill>
                <a:latin typeface="Glacial Indifference"/>
                <a:ea typeface="Glacial Indifference"/>
                <a:cs typeface="Glacial Indifference"/>
                <a:sym typeface="Glacial Indifference"/>
              </a:rPr>
              <a:t>Abstract</a:t>
            </a:r>
          </a:p>
          <a:p>
            <a:pPr algn="just">
              <a:lnSpc>
                <a:spcPts val="4200"/>
              </a:lnSpc>
            </a:pPr>
            <a:r>
              <a:rPr lang="en-US" sz="3000">
                <a:solidFill>
                  <a:srgbClr val="000000"/>
                </a:solidFill>
                <a:latin typeface="Glacial Indifference"/>
                <a:ea typeface="Glacial Indifference"/>
                <a:cs typeface="Glacial Indifference"/>
                <a:sym typeface="Glacial Indifference"/>
              </a:rPr>
              <a:t>India has experienced rapid growth in digital payments, with UPI becoming one of the most widely used methods. However, the changing contribution of UPI compared with other payment methods over time is not immediately apparent from raw transaction data. This project aims to analyse these trends and understand how UPI has influenced India's digital payment landscape and transaction behaviour.</a:t>
            </a:r>
          </a:p>
          <a:p>
            <a:pPr algn="just">
              <a:lnSpc>
                <a:spcPts val="4200"/>
              </a:lnSpc>
            </a:pPr>
          </a:p>
          <a:p>
            <a:pPr algn="just">
              <a:lnSpc>
                <a:spcPts val="4200"/>
              </a:lnSpc>
            </a:pPr>
            <a:r>
              <a:rPr lang="en-US" sz="3000">
                <a:solidFill>
                  <a:srgbClr val="000000"/>
                </a:solidFill>
                <a:latin typeface="Glacial Indifference"/>
                <a:ea typeface="Glacial Indifference"/>
                <a:cs typeface="Glacial Indifference"/>
                <a:sym typeface="Glacial Indifference"/>
              </a:rPr>
              <a:t>Objectives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Analyse the growth of digital payments in India over time.</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Examine trends in UPI transaction volume and value.</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Compare UPI with other major payment methods.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Identify changes in their relative contribution and usage patterns.</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Understand how transaction behaviour has evolved.</a:t>
            </a:r>
          </a:p>
          <a:p>
            <a:pPr algn="just" marL="647700" indent="-323850" lvl="1">
              <a:lnSpc>
                <a:spcPts val="4200"/>
              </a:lnSpc>
              <a:buFont typeface="Arial"/>
              <a:buChar char="•"/>
            </a:pPr>
            <a:r>
              <a:rPr lang="en-US" sz="3000">
                <a:solidFill>
                  <a:srgbClr val="000000"/>
                </a:solidFill>
                <a:latin typeface="Glacial Indifference"/>
                <a:ea typeface="Glacial Indifference"/>
                <a:cs typeface="Glacial Indifference"/>
                <a:sym typeface="Glacial Indifference"/>
              </a:rPr>
              <a:t>Present the findings through a clear and interactive data story.</a:t>
            </a:r>
          </a:p>
          <a:p>
            <a:pPr algn="just">
              <a:lnSpc>
                <a:spcPts val="4200"/>
              </a:lnSpc>
            </a:pPr>
          </a:p>
        </p:txBody>
      </p:sp>
      <p:sp>
        <p:nvSpPr>
          <p:cNvPr name="TextBox 6" id="6"/>
          <p:cNvSpPr txBox="true"/>
          <p:nvPr/>
        </p:nvSpPr>
        <p:spPr>
          <a:xfrm rot="0">
            <a:off x="5847322" y="857250"/>
            <a:ext cx="11992314"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22720" y="1430456"/>
            <a:ext cx="6581599"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APPROACH</a:t>
            </a:r>
          </a:p>
        </p:txBody>
      </p:sp>
      <p:sp>
        <p:nvSpPr>
          <p:cNvPr name="TextBox 4" id="4"/>
          <p:cNvSpPr txBox="true"/>
          <p:nvPr/>
        </p:nvSpPr>
        <p:spPr>
          <a:xfrm rot="0">
            <a:off x="9888419" y="2843331"/>
            <a:ext cx="6310411" cy="5934710"/>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RBI – Payment System Indicators</a:t>
            </a:r>
          </a:p>
          <a:p>
            <a:pPr algn="l">
              <a:lnSpc>
                <a:spcPts val="3639"/>
              </a:lnSpc>
            </a:pPr>
            <a:r>
              <a:rPr lang="en-US" sz="2599">
                <a:solidFill>
                  <a:srgbClr val="000000"/>
                </a:solidFill>
                <a:latin typeface="Glacial Indifference"/>
                <a:ea typeface="Glacial Indifference"/>
                <a:cs typeface="Glacial Indifference"/>
                <a:sym typeface="Glacial Indifference"/>
              </a:rPr>
              <a:t>Main dataset for comparing UPI, IMPS, NEFT, RTGS, card payments, etc., with transaction volume and value over time. </a:t>
            </a:r>
          </a:p>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NPCI – UPI Product Statistics</a:t>
            </a:r>
          </a:p>
          <a:p>
            <a:pPr algn="l">
              <a:lnSpc>
                <a:spcPts val="3639"/>
              </a:lnSpc>
            </a:pPr>
            <a:r>
              <a:rPr lang="en-US" sz="2599">
                <a:solidFill>
                  <a:srgbClr val="000000"/>
                </a:solidFill>
                <a:latin typeface="Glacial Indifference"/>
                <a:ea typeface="Glacial Indifference"/>
                <a:cs typeface="Glacial Indifference"/>
                <a:sym typeface="Glacial Indifference"/>
              </a:rPr>
              <a:t>More detailed UPI data, including monthly transaction volume and value, useful for the deeper UPI analysis. </a:t>
            </a:r>
          </a:p>
          <a:p>
            <a:pPr algn="l" marL="561339" indent="-280669" lvl="1">
              <a:lnSpc>
                <a:spcPts val="3639"/>
              </a:lnSpc>
              <a:buFont typeface="Arial"/>
              <a:buChar char="•"/>
            </a:pPr>
            <a:r>
              <a:rPr lang="en-US" sz="2599">
                <a:solidFill>
                  <a:srgbClr val="000000"/>
                </a:solidFill>
                <a:latin typeface="Glacial Indifference"/>
                <a:ea typeface="Glacial Indifference"/>
                <a:cs typeface="Glacial Indifference"/>
                <a:sym typeface="Glacial Indifference"/>
              </a:rPr>
              <a:t>NPCI – IMPS Product Statistics (optional)</a:t>
            </a:r>
          </a:p>
          <a:p>
            <a:pPr algn="l">
              <a:lnSpc>
                <a:spcPts val="3639"/>
              </a:lnSpc>
            </a:pPr>
            <a:r>
              <a:rPr lang="en-US" sz="2599">
                <a:solidFill>
                  <a:srgbClr val="000000"/>
                </a:solidFill>
                <a:latin typeface="Glacial Indifference"/>
                <a:ea typeface="Glacial Indifference"/>
                <a:cs typeface="Glacial Indifference"/>
                <a:sym typeface="Glacial Indifference"/>
              </a:rPr>
              <a:t>Can be used alongside UPI for a more focused comparison between the two instant-payment systems.</a:t>
            </a:r>
          </a:p>
          <a:p>
            <a:pPr algn="l">
              <a:lnSpc>
                <a:spcPts val="3639"/>
              </a:lnSpc>
            </a:pPr>
          </a:p>
        </p:txBody>
      </p:sp>
      <p:sp>
        <p:nvSpPr>
          <p:cNvPr name="TextBox 5" id="5"/>
          <p:cNvSpPr txBox="true"/>
          <p:nvPr/>
        </p:nvSpPr>
        <p:spPr>
          <a:xfrm rot="0">
            <a:off x="2022720" y="2843331"/>
            <a:ext cx="6455223" cy="6391910"/>
          </a:xfrm>
          <a:prstGeom prst="rect">
            <a:avLst/>
          </a:prstGeom>
        </p:spPr>
        <p:txBody>
          <a:bodyPr anchor="t" rtlCol="false" tIns="0" lIns="0" bIns="0" rIns="0">
            <a:spAutoFit/>
          </a:bodyPr>
          <a:lstStyle/>
          <a:p>
            <a:pPr algn="just">
              <a:lnSpc>
                <a:spcPts val="3639"/>
              </a:lnSpc>
            </a:pPr>
            <a:r>
              <a:rPr lang="en-US" sz="2599">
                <a:solidFill>
                  <a:srgbClr val="000000"/>
                </a:solidFill>
                <a:latin typeface="Glacial Indifference"/>
                <a:ea typeface="Glacial Indifference"/>
                <a:cs typeface="Glacial Indifference"/>
                <a:sym typeface="Glacial Indifference"/>
              </a:rPr>
              <a:t>The projec</a:t>
            </a:r>
            <a:r>
              <a:rPr lang="en-US" sz="2599">
                <a:solidFill>
                  <a:srgbClr val="000000"/>
                </a:solidFill>
                <a:latin typeface="Glacial Indifference"/>
                <a:ea typeface="Glacial Indifference"/>
                <a:cs typeface="Glacial Indifference"/>
                <a:sym typeface="Glacial Indifference"/>
              </a:rPr>
              <a:t>t will begin by collecting and preparing historical data on UPI and other major digital payment methods in India. Python will be used to clean and analyse the data, identifying trends in transaction volume, value, and growth over time.</a:t>
            </a:r>
          </a:p>
          <a:p>
            <a:pPr algn="just">
              <a:lnSpc>
                <a:spcPts val="3639"/>
              </a:lnSpc>
            </a:pPr>
            <a:r>
              <a:rPr lang="en-US" sz="2599">
                <a:solidFill>
                  <a:srgbClr val="000000"/>
                </a:solidFill>
                <a:latin typeface="Glacial Indifference"/>
                <a:ea typeface="Glacial Indifference"/>
                <a:cs typeface="Glacial Indifference"/>
                <a:sym typeface="Glacial Indifference"/>
              </a:rPr>
              <a:t>The findings will be presented in Power BI through narrative and interactive visualizations, comparing payment methods and highlighting key changes in India's digital payment landscape. This will help understand how UPI has influenced transaction behaviour.</a:t>
            </a:r>
          </a:p>
          <a:p>
            <a:pPr algn="just">
              <a:lnSpc>
                <a:spcPts val="3639"/>
              </a:lnSpc>
            </a:pPr>
          </a:p>
        </p:txBody>
      </p:sp>
      <p:sp>
        <p:nvSpPr>
          <p:cNvPr name="TextBox 6" id="6"/>
          <p:cNvSpPr txBox="true"/>
          <p:nvPr/>
        </p:nvSpPr>
        <p:spPr>
          <a:xfrm rot="0">
            <a:off x="9942147" y="1430456"/>
            <a:ext cx="6581599" cy="1231900"/>
          </a:xfrm>
          <a:prstGeom prst="rect">
            <a:avLst/>
          </a:prstGeom>
        </p:spPr>
        <p:txBody>
          <a:bodyPr anchor="t" rtlCol="false" tIns="0" lIns="0" bIns="0" rIns="0">
            <a:spAutoFit/>
          </a:bodyPr>
          <a:lstStyle/>
          <a:p>
            <a:pPr algn="l">
              <a:lnSpc>
                <a:spcPts val="9800"/>
              </a:lnSpc>
            </a:pPr>
            <a:r>
              <a:rPr lang="en-US" sz="7000" b="true">
                <a:solidFill>
                  <a:srgbClr val="000000"/>
                </a:solidFill>
                <a:latin typeface="Arimo Bold"/>
                <a:ea typeface="Arimo Bold"/>
                <a:cs typeface="Arimo Bold"/>
                <a:sym typeface="Arimo Bold"/>
              </a:rPr>
              <a:t>DATASETS</a:t>
            </a:r>
          </a:p>
        </p:txBody>
      </p:sp>
      <p:sp>
        <p:nvSpPr>
          <p:cNvPr name="AutoShape 7" id="7"/>
          <p:cNvSpPr/>
          <p:nvPr/>
        </p:nvSpPr>
        <p:spPr>
          <a:xfrm>
            <a:off x="9144000" y="1601906"/>
            <a:ext cx="0" cy="741964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LITERATURE SURVEY</a:t>
            </a:r>
          </a:p>
        </p:txBody>
      </p:sp>
      <p:sp>
        <p:nvSpPr>
          <p:cNvPr id="4" name="TextBox 3"/>
          <p:cNvSpPr txBox="1"/>
          <p:nvPr/>
        </p:nvSpPr>
        <p:spPr>
          <a:xfrm>
            <a:off x="20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UPI in India: A Trend Analysis of Transaction Volume and Value</a:t>
            </a:r>
          </a:p>
          <a:p>
            <a:pPr algn="l">
              <a:spcAft>
                <a:spcPts val="1000"/>
              </a:spcAft>
            </a:pPr>
            <a:r>
              <a:rPr sz="1785" b="0">
                <a:solidFill>
                  <a:srgbClr val="000000"/>
                </a:solidFill>
                <a:latin typeface="Glacial Indifference"/>
                <a:ea typeface="Glacial Indifference"/>
                <a:cs typeface="Glacial Indifference"/>
                <a:sym typeface="Glacial Indifference"/>
              </a:rPr>
              <a:t>Manjula R &amp; Dhamayanthi P T · IJFMR,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NPCI monthly UPI data (Jun 2025–Jun 2026); CMGR, Mann–Kendall trend test, correlation.</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Volume +23.5% (18.4 bn → 22.7 bn txns); value +20.3% (₹24.0 → ₹28.9 lakh crore)</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Volume and value move almost one-to-one (r = 0.976)</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Average ticket size ≈ ₹1,291, easing in recent months</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Only 13 months; UPI aggregate only, no comparison with other payment modes.</a:t>
            </a:r>
          </a:p>
        </p:txBody>
      </p:sp>
      <p:sp>
        <p:nvSpPr>
          <p:cNvPr id="5" name="TextBox 4"/>
          <p:cNvSpPr txBox="1"/>
          <p:nvPr/>
        </p:nvSpPr>
        <p:spPr>
          <a:xfrm>
            <a:off x="72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UPI Revolution in India: Growth and Transformation of the Digital Payment Ecosystem</a:t>
            </a:r>
          </a:p>
          <a:p>
            <a:pPr algn="l">
              <a:spcAft>
                <a:spcPts val="1000"/>
              </a:spcAft>
            </a:pPr>
            <a:r>
              <a:rPr sz="1785" b="0">
                <a:solidFill>
                  <a:srgbClr val="000000"/>
                </a:solidFill>
                <a:latin typeface="Glacial Indifference"/>
                <a:ea typeface="Glacial Indifference"/>
                <a:cs typeface="Glacial Indifference"/>
                <a:sym typeface="Glacial Indifference"/>
              </a:rPr>
              <a:t>Mandavi, Bhatia &amp; Gupta · IJRCMS, Vol. 8(4),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69 monthly records (Apr 2016–Dec 2021) on banks live, volume and value; plus official FY 2025-26 figures.</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Monthly volume: 0.09 M (Jul 2016) → 4,566 M (Dec 2021)</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Banks live on UPI: 21 → 282</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P2M ≈ 63% of volume; P2P ≈ 71% of value (official)</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Dataset ends in 2021; descriptive only, no statistical testing of drivers.</a:t>
            </a:r>
          </a:p>
        </p:txBody>
      </p:sp>
      <p:cxnSp>
        <p:nvCxnSpPr>
          <p:cNvPr id="6" name="Connector 5"/>
          <p:cNvCxnSpPr/>
          <p:nvPr/>
        </p:nvCxnSpPr>
        <p:spPr>
          <a:xfrm>
            <a:off x="6997720" y="2250000"/>
            <a:ext cx="0" cy="7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2422720" y="2250000"/>
            <a:ext cx="4750000" cy="7200000"/>
          </a:xfrm>
          <a:prstGeom prst="rect">
            <a:avLst/>
          </a:prstGeom>
          <a:noFill/>
        </p:spPr>
        <p:txBody>
          <a:bodyPr wrap="square" lIns="0" rIns="0" tIns="0" bIns="0">
            <a:spAutoFit/>
          </a:bodyPr>
          <a:lstStyle/>
          <a:p>
            <a:pPr algn="l">
              <a:spcAft>
                <a:spcPts val="500"/>
              </a:spcAft>
            </a:pPr>
            <a:r>
              <a:rPr sz="2730" b="1">
                <a:solidFill>
                  <a:srgbClr val="000000"/>
                </a:solidFill>
                <a:latin typeface="Arimo Bold"/>
                <a:ea typeface="Arimo Bold"/>
                <a:cs typeface="Arimo Bold"/>
                <a:sym typeface="Arimo Bold"/>
              </a:rPr>
              <a:t>A Study on Growth of UPI based Digital Payment and Financial Inclusion in India</a:t>
            </a:r>
          </a:p>
          <a:p>
            <a:pPr algn="l">
              <a:spcAft>
                <a:spcPts val="1000"/>
              </a:spcAft>
            </a:pPr>
            <a:r>
              <a:rPr sz="1785" b="0">
                <a:solidFill>
                  <a:srgbClr val="000000"/>
                </a:solidFill>
                <a:latin typeface="Glacial Indifference"/>
                <a:ea typeface="Glacial Indifference"/>
                <a:cs typeface="Glacial Indifference"/>
                <a:sym typeface="Glacial Indifference"/>
              </a:rPr>
              <a:t>Smitha K S et al. · IJCRT, Vol. 14(5), May 2026</a:t>
            </a:r>
          </a:p>
          <a:p>
            <a:pPr algn="l">
              <a:spcBef>
                <a:spcPts val="800"/>
              </a:spcBef>
              <a:spcAft>
                <a:spcPts val="200"/>
              </a:spcAft>
            </a:pPr>
            <a:r>
              <a:rPr sz="1890" b="1">
                <a:solidFill>
                  <a:srgbClr val="000000"/>
                </a:solidFill>
                <a:latin typeface="Arimo Bold"/>
                <a:ea typeface="Arimo Bold"/>
                <a:cs typeface="Arimo Bold"/>
                <a:sym typeface="Arimo Bold"/>
              </a:rPr>
              <a:t>METHOD</a:t>
            </a:r>
          </a:p>
          <a:p>
            <a:pPr algn="l">
              <a:spcAft>
                <a:spcPts val="300"/>
              </a:spcAft>
            </a:pPr>
            <a:r>
              <a:rPr sz="1995" b="0">
                <a:solidFill>
                  <a:srgbClr val="000000"/>
                </a:solidFill>
                <a:latin typeface="Glacial Indifference"/>
                <a:ea typeface="Glacial Indifference"/>
                <a:cs typeface="Glacial Indifference"/>
                <a:sym typeface="Glacial Indifference"/>
              </a:rPr>
              <a:t>Secondary RBI/NPCI data; trend analysis and correlation of UPI transactions with bank-account growth.</a:t>
            </a:r>
          </a:p>
          <a:p>
            <a:pPr algn="l">
              <a:spcBef>
                <a:spcPts val="800"/>
              </a:spcBef>
              <a:spcAft>
                <a:spcPts val="200"/>
              </a:spcAft>
            </a:pPr>
            <a:r>
              <a:rPr sz="1890" b="1">
                <a:solidFill>
                  <a:srgbClr val="000000"/>
                </a:solidFill>
                <a:latin typeface="Arimo Bold"/>
                <a:ea typeface="Arimo Bold"/>
                <a:cs typeface="Arimo Bold"/>
                <a:sym typeface="Arimo Bold"/>
              </a:rPr>
              <a:t>KEY FINDINGS</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UPI: 228.3 bn txns in 2025 vs 172.2 bn in 2024</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Reported r = 0.85 between UPI use and bank-account growth</a:t>
            </a:r>
          </a:p>
          <a:p>
            <a:pPr algn="l" marL="342900" indent="-342900">
              <a:spcAft>
                <a:spcPts val="440"/>
              </a:spcAft>
              <a:buFont typeface="Arial"/>
              <a:buChar char="•"/>
            </a:pPr>
            <a:r>
              <a:rPr sz="1995" b="0">
                <a:solidFill>
                  <a:srgbClr val="000000"/>
                </a:solidFill>
                <a:latin typeface="Glacial Indifference"/>
                <a:ea typeface="Glacial Indifference"/>
                <a:cs typeface="Glacial Indifference"/>
                <a:sym typeface="Glacial Indifference"/>
              </a:rPr>
              <a:t>Barriers: digital literacy, smartphones, connectivity</a:t>
            </a:r>
          </a:p>
          <a:p>
            <a:pPr algn="l">
              <a:spcBef>
                <a:spcPts val="800"/>
              </a:spcBef>
              <a:spcAft>
                <a:spcPts val="200"/>
              </a:spcAft>
            </a:pPr>
            <a:r>
              <a:rPr sz="1890" b="1">
                <a:solidFill>
                  <a:srgbClr val="000000"/>
                </a:solidFill>
                <a:latin typeface="Arimo Bold"/>
                <a:ea typeface="Arimo Bold"/>
                <a:cs typeface="Arimo Bold"/>
                <a:sym typeface="Arimo Bold"/>
              </a:rPr>
              <a:t>GAP</a:t>
            </a:r>
          </a:p>
          <a:p>
            <a:pPr algn="l">
              <a:spcAft>
                <a:spcPts val="300"/>
              </a:spcAft>
            </a:pPr>
            <a:r>
              <a:rPr sz="1995" b="0">
                <a:solidFill>
                  <a:srgbClr val="000000"/>
                </a:solidFill>
                <a:latin typeface="Glacial Indifference"/>
                <a:ea typeface="Glacial Indifference"/>
                <a:cs typeface="Glacial Indifference"/>
                <a:sym typeface="Glacial Indifference"/>
              </a:rPr>
              <a:t>Correlation method not explained; fiscal and calendar years mixed.</a:t>
            </a:r>
          </a:p>
        </p:txBody>
      </p:sp>
      <p:cxnSp>
        <p:nvCxnSpPr>
          <p:cNvPr id="8" name="Connector 7"/>
          <p:cNvCxnSpPr/>
          <p:nvPr/>
        </p:nvCxnSpPr>
        <p:spPr>
          <a:xfrm>
            <a:off x="12197720" y="2250000"/>
            <a:ext cx="0" cy="7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RESEARCH GAP</a:t>
            </a:r>
          </a:p>
        </p:txBody>
      </p:sp>
      <p:sp>
        <p:nvSpPr>
          <p:cNvPr id="4" name="TextBox 3"/>
          <p:cNvSpPr txBox="1"/>
          <p:nvPr/>
        </p:nvSpPr>
        <p:spPr>
          <a:xfrm>
            <a:off x="2022720" y="2400000"/>
            <a:ext cx="6400000" cy="6000000"/>
          </a:xfrm>
          <a:prstGeom prst="rect">
            <a:avLst/>
          </a:prstGeom>
          <a:noFill/>
        </p:spPr>
        <p:txBody>
          <a:bodyPr wrap="square" lIns="0" rIns="0" tIns="0" bIns="0">
            <a:spAutoFit/>
          </a:bodyPr>
          <a:lstStyle/>
          <a:p>
            <a:pPr algn="l">
              <a:spcAft>
                <a:spcPts val="1100"/>
              </a:spcAft>
            </a:pPr>
            <a:r>
              <a:rPr sz="3510" b="1">
                <a:solidFill>
                  <a:srgbClr val="000000"/>
                </a:solidFill>
                <a:latin typeface="Arimo Bold"/>
                <a:ea typeface="Arimo Bold"/>
                <a:cs typeface="Arimo Bold"/>
                <a:sym typeface="Arimo Bold"/>
              </a:rPr>
              <a:t>What existing studies miss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Short time windows (13 months) or data that stops in 2021, before UPI’s largest expansion.</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UPI is studied in isolation; its changing share against IMPS, NEFT, RTGS and cards is not shown.</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Findings are static tables and reports; readers cannot explore the data themselves.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Some correlation claims (e.g. UPI and inclusion) are reported without a clear method.</a:t>
            </a:r>
          </a:p>
        </p:txBody>
      </p:sp>
      <p:cxnSp>
        <p:nvCxnSpPr>
          <p:cNvPr id="5" name="Connector 4"/>
          <p:cNvCxnSpPr/>
          <p:nvPr/>
        </p:nvCxnSpPr>
        <p:spPr>
          <a:xfrm>
            <a:off x="9144000" y="2400000"/>
            <a:ext cx="0" cy="64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888419" y="2400000"/>
            <a:ext cx="6400000" cy="6000000"/>
          </a:xfrm>
          <a:prstGeom prst="rect">
            <a:avLst/>
          </a:prstGeom>
          <a:noFill/>
        </p:spPr>
        <p:txBody>
          <a:bodyPr wrap="square" lIns="0" rIns="0" tIns="0" bIns="0">
            <a:spAutoFit/>
          </a:bodyPr>
          <a:lstStyle/>
          <a:p>
            <a:pPr algn="l">
              <a:spcAft>
                <a:spcPts val="1100"/>
              </a:spcAft>
            </a:pPr>
            <a:r>
              <a:rPr sz="3510" b="1">
                <a:solidFill>
                  <a:srgbClr val="000000"/>
                </a:solidFill>
                <a:latin typeface="Arimo Bold"/>
                <a:ea typeface="Arimo Bold"/>
                <a:cs typeface="Arimo Bold"/>
                <a:sym typeface="Arimo Bold"/>
              </a:rPr>
              <a:t>What this project adds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Long, current series from RBI Payment System Indicators and NPCI UPI statistics.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Side-by-side comparison of UPI with other payment methods in volume and value share.</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A Hook → Build-up → Insight → Conclusion story in Power BI, with annotations.</a:t>
            </a:r>
          </a:p>
          <a:p>
            <a:pPr algn="l" marL="342900" indent="-342900">
              <a:spcAft>
                <a:spcPts val="1280"/>
              </a:spcAft>
              <a:buFont typeface="Arial"/>
              <a:buChar char="•"/>
            </a:pPr>
            <a:r>
              <a:rPr sz="2565" b="0">
                <a:solidFill>
                  <a:srgbClr val="000000"/>
                </a:solidFill>
                <a:latin typeface="Glacial Indifference"/>
                <a:ea typeface="Glacial Indifference"/>
                <a:cs typeface="Glacial Indifference"/>
                <a:sym typeface="Glacial Indifference"/>
              </a:rPr>
              <a:t>Slicers and Year → Quarter → Month drill-down so viewers can explore trends.</a:t>
            </a:r>
          </a:p>
        </p:txBody>
      </p:sp>
      <p:sp>
        <p:nvSpPr>
          <p:cNvPr id="7" name="TextBox 6"/>
          <p:cNvSpPr txBox="1"/>
          <p:nvPr/>
        </p:nvSpPr>
        <p:spPr>
          <a:xfrm>
            <a:off x="2022720" y="9200000"/>
            <a:ext cx="14000000" cy="500000"/>
          </a:xfrm>
          <a:prstGeom prst="rect">
            <a:avLst/>
          </a:prstGeom>
          <a:noFill/>
        </p:spPr>
        <p:txBody>
          <a:bodyPr wrap="square" lIns="0" rIns="0" tIns="0" bIns="0">
            <a:spAutoFit/>
          </a:bodyPr>
          <a:lstStyle/>
          <a:p>
            <a:pPr algn="l">
              <a:spcAft>
                <a:spcPts val="1000"/>
              </a:spcAft>
            </a:pPr>
            <a:r>
              <a:rPr sz="1700" b="0">
                <a:solidFill>
                  <a:srgbClr val="000000"/>
                </a:solidFill>
                <a:latin typeface="Glacial Indifference"/>
                <a:ea typeface="Glacial Indifference"/>
                <a:cs typeface="Glacial Indifference"/>
                <a:sym typeface="Glacial Indifference"/>
              </a:rPr>
              <a:t>Based on: Manjula &amp; Dhamayanthi (2026); Mandavi et al. (2026); Smitha et al. (2026).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49070" y="981075"/>
            <a:ext cx="6993064" cy="2725420"/>
          </a:xfrm>
          <a:prstGeom prst="rect">
            <a:avLst/>
          </a:prstGeom>
        </p:spPr>
        <p:txBody>
          <a:bodyPr anchor="t" rtlCol="false" tIns="0" lIns="0" bIns="0" rIns="0">
            <a:spAutoFit/>
          </a:bodyPr>
          <a:lstStyle/>
          <a:p>
            <a:pPr algn="just">
              <a:lnSpc>
                <a:spcPts val="3080"/>
              </a:lnSpc>
            </a:pPr>
            <a:r>
              <a:rPr lang="en-US" sz="2200">
                <a:solidFill>
                  <a:srgbClr val="000000"/>
                </a:solidFill>
                <a:latin typeface="Glacial Indifference"/>
                <a:ea typeface="Glacial Indifference"/>
                <a:cs typeface="Glacial Indifference"/>
                <a:sym typeface="Glacial Indifference"/>
              </a:rPr>
              <a:t>Unit 1 — Exploratory Data Analysis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Python)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Data cleaning and preparation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Trend analysis</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Growth rate calculations</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Comparison of transaction volume and value</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Identification of important patterns and changes</a:t>
            </a:r>
          </a:p>
          <a:p>
            <a:pPr algn="just">
              <a:lnSpc>
                <a:spcPts val="3080"/>
              </a:lnSpc>
            </a:pPr>
          </a:p>
        </p:txBody>
      </p:sp>
      <p:sp>
        <p:nvSpPr>
          <p:cNvPr name="TextBox 3" id="3"/>
          <p:cNvSpPr txBox="true"/>
          <p:nvPr/>
        </p:nvSpPr>
        <p:spPr>
          <a:xfrm rot="0">
            <a:off x="5726437" y="4439753"/>
            <a:ext cx="6835126" cy="1231900"/>
          </a:xfrm>
          <a:prstGeom prst="rect">
            <a:avLst/>
          </a:prstGeom>
        </p:spPr>
        <p:txBody>
          <a:bodyPr anchor="t" rtlCol="false" tIns="0" lIns="0" bIns="0" rIns="0">
            <a:spAutoFit/>
          </a:bodyPr>
          <a:lstStyle/>
          <a:p>
            <a:pPr algn="ctr">
              <a:lnSpc>
                <a:spcPts val="9800"/>
              </a:lnSpc>
            </a:pPr>
            <a:r>
              <a:rPr lang="en-US" b="true" sz="7000">
                <a:solidFill>
                  <a:srgbClr val="000000"/>
                </a:solidFill>
                <a:latin typeface="Arimo Bold"/>
                <a:ea typeface="Arimo Bold"/>
                <a:cs typeface="Arimo Bold"/>
                <a:sym typeface="Arimo Bold"/>
              </a:rPr>
              <a:t>COURSE UNITS</a:t>
            </a:r>
          </a:p>
        </p:txBody>
      </p:sp>
      <p:sp>
        <p:nvSpPr>
          <p:cNvPr name="TextBox 4" id="4"/>
          <p:cNvSpPr txBox="true"/>
          <p:nvPr/>
        </p:nvSpPr>
        <p:spPr>
          <a:xfrm rot="0">
            <a:off x="10281167" y="981075"/>
            <a:ext cx="7118764" cy="2334895"/>
          </a:xfrm>
          <a:prstGeom prst="rect">
            <a:avLst/>
          </a:prstGeom>
        </p:spPr>
        <p:txBody>
          <a:bodyPr anchor="t" rtlCol="false" tIns="0" lIns="0" bIns="0" rIns="0">
            <a:spAutoFit/>
          </a:bodyPr>
          <a:lstStyle/>
          <a:p>
            <a:pPr algn="l">
              <a:lnSpc>
                <a:spcPts val="3080"/>
              </a:lnSpc>
            </a:pPr>
            <a:r>
              <a:rPr lang="en-US" sz="2200">
                <a:solidFill>
                  <a:srgbClr val="000000"/>
                </a:solidFill>
                <a:latin typeface="Glacial Indifference"/>
                <a:ea typeface="Glacial Indifference"/>
                <a:cs typeface="Glacial Indifference"/>
                <a:sym typeface="Glacial Indifference"/>
              </a:rPr>
              <a:t>Unit 2 — Narrative Visualization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Power BI)</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The dashboard will follow a clear narrative: Hook → Build-up → Insight → Conclusion</a:t>
            </a:r>
          </a:p>
          <a:p>
            <a:pPr algn="l"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The visuals will progressively explain the growth and changing role of UPI in India's digital payment ecosystem.</a:t>
            </a:r>
          </a:p>
        </p:txBody>
      </p:sp>
      <p:sp>
        <p:nvSpPr>
          <p:cNvPr name="TextBox 5" id="5"/>
          <p:cNvSpPr txBox="true"/>
          <p:nvPr/>
        </p:nvSpPr>
        <p:spPr>
          <a:xfrm rot="0">
            <a:off x="5983309" y="6728116"/>
            <a:ext cx="5717649" cy="3115945"/>
          </a:xfrm>
          <a:prstGeom prst="rect">
            <a:avLst/>
          </a:prstGeom>
        </p:spPr>
        <p:txBody>
          <a:bodyPr anchor="t" rtlCol="false" tIns="0" lIns="0" bIns="0" rIns="0">
            <a:spAutoFit/>
          </a:bodyPr>
          <a:lstStyle/>
          <a:p>
            <a:pPr algn="just">
              <a:lnSpc>
                <a:spcPts val="3080"/>
              </a:lnSpc>
            </a:pPr>
            <a:r>
              <a:rPr lang="en-US" sz="2200">
                <a:solidFill>
                  <a:srgbClr val="000000"/>
                </a:solidFill>
                <a:latin typeface="Glacial Indifference"/>
                <a:ea typeface="Glacial Indifference"/>
                <a:cs typeface="Glacial Indifference"/>
                <a:sym typeface="Glacial Indifference"/>
              </a:rPr>
              <a:t>Unit 3 — Interactive Visualization </a:t>
            </a:r>
            <a:r>
              <a:rPr lang="en-US" sz="2200">
                <a:solidFill>
                  <a:srgbClr val="000000"/>
                </a:solidFill>
                <a:latin typeface="Glacial Indifference"/>
                <a:ea typeface="Glacial Indifference"/>
                <a:cs typeface="Glacial Indifference"/>
                <a:sym typeface="Glacial Indifference"/>
              </a:rPr>
              <a:t>(</a:t>
            </a:r>
            <a:r>
              <a:rPr lang="en-US" sz="2200">
                <a:solidFill>
                  <a:srgbClr val="000000"/>
                </a:solidFill>
                <a:latin typeface="Glacial Indifference"/>
                <a:ea typeface="Glacial Indifference"/>
                <a:cs typeface="Glacial Indifference"/>
                <a:sym typeface="Glacial Indifference"/>
              </a:rPr>
              <a:t>Power BI)</a:t>
            </a:r>
          </a:p>
          <a:p>
            <a:pPr algn="just">
              <a:lnSpc>
                <a:spcPts val="3080"/>
              </a:lnSpc>
            </a:pPr>
            <a:r>
              <a:rPr lang="en-US" sz="2200">
                <a:solidFill>
                  <a:srgbClr val="000000"/>
                </a:solidFill>
                <a:latin typeface="Glacial Indifference"/>
                <a:ea typeface="Glacial Indifference"/>
                <a:cs typeface="Glacial Indifference"/>
                <a:sym typeface="Glacial Indifference"/>
              </a:rPr>
              <a:t>Users will be able to explore the data using:</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Date/time filters</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Payment method filters</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Interactive cross-filtering</a:t>
            </a:r>
          </a:p>
          <a:p>
            <a:pPr algn="just" marL="474981" indent="-237491" lvl="1">
              <a:lnSpc>
                <a:spcPts val="3080"/>
              </a:lnSpc>
              <a:buFont typeface="Arial"/>
              <a:buChar char="•"/>
            </a:pPr>
            <a:r>
              <a:rPr lang="en-US" sz="2200">
                <a:solidFill>
                  <a:srgbClr val="000000"/>
                </a:solidFill>
                <a:latin typeface="Glacial Indifference"/>
                <a:ea typeface="Glacial Indifference"/>
                <a:cs typeface="Glacial Indifference"/>
                <a:sym typeface="Glacial Indifference"/>
              </a:rPr>
              <a:t>Drill-down from Year → Quarter → Month</a:t>
            </a:r>
          </a:p>
          <a:p>
            <a:pPr algn="just">
              <a:lnSpc>
                <a:spcPts val="3080"/>
              </a:lnSpc>
            </a:pPr>
          </a:p>
          <a:p>
            <a:pPr algn="just">
              <a:lnSpc>
                <a:spcPts val="3080"/>
              </a:lnSpc>
            </a:pPr>
          </a:p>
        </p:txBody>
      </p:sp>
      <p:sp>
        <p:nvSpPr>
          <p:cNvPr name="Freeform 6" id="6"/>
          <p:cNvSpPr/>
          <p:nvPr/>
        </p:nvSpPr>
        <p:spPr>
          <a:xfrm>
            <a:off x="4303301" y="3706495"/>
            <a:ext cx="1423136" cy="1437005"/>
          </a:xfrm>
          <a:custGeom>
            <a:avLst/>
            <a:gdLst/>
            <a:ahLst/>
            <a:cxnLst/>
            <a:rect r="r" b="b" t="t" l="l"/>
            <a:pathLst>
              <a:path h="1437005" w="1423136">
                <a:moveTo>
                  <a:pt x="0" y="0"/>
                </a:moveTo>
                <a:lnTo>
                  <a:pt x="0" y="1208405"/>
                </a:lnTo>
                <a:cubicBezTo>
                  <a:pt x="0" y="1334657"/>
                  <a:pt x="102347" y="1437005"/>
                  <a:pt x="228600" y="1437005"/>
                </a:cubicBezTo>
                <a:lnTo>
                  <a:pt x="964900" y="1437005"/>
                </a:lnTo>
                <a:cubicBezTo>
                  <a:pt x="965472" y="1437005"/>
                  <a:pt x="965936" y="1436541"/>
                  <a:pt x="965936" y="1435969"/>
                </a:cubicBezTo>
                <a:lnTo>
                  <a:pt x="965936" y="1435969"/>
                </a:lnTo>
                <a:cubicBezTo>
                  <a:pt x="965936" y="1435397"/>
                  <a:pt x="966400" y="1434933"/>
                  <a:pt x="966972" y="1434933"/>
                </a:cubicBezTo>
                <a:lnTo>
                  <a:pt x="1423136" y="1434933"/>
                </a:lnTo>
              </a:path>
            </a:pathLst>
          </a:custGeom>
          <a:ln cap="flat" w="38100">
            <a:solidFill>
              <a:srgbClr val="000000"/>
            </a:solidFill>
            <a:prstDash val="solid"/>
            <a:headEnd type="oval" len="lg" w="lg"/>
            <a:tailEnd type="none" len="sm" w="sm"/>
          </a:ln>
        </p:spPr>
      </p:sp>
      <p:sp>
        <p:nvSpPr>
          <p:cNvPr name="Freeform 7" id="7"/>
          <p:cNvSpPr/>
          <p:nvPr/>
        </p:nvSpPr>
        <p:spPr>
          <a:xfrm>
            <a:off x="12561563" y="3770630"/>
            <a:ext cx="1278985" cy="1370798"/>
          </a:xfrm>
          <a:custGeom>
            <a:avLst/>
            <a:gdLst/>
            <a:ahLst/>
            <a:cxnLst/>
            <a:rect r="r" b="b" t="t" l="l"/>
            <a:pathLst>
              <a:path h="1370798" w="1278985">
                <a:moveTo>
                  <a:pt x="1278986" y="0"/>
                </a:moveTo>
                <a:lnTo>
                  <a:pt x="1278986" y="456799"/>
                </a:lnTo>
                <a:cubicBezTo>
                  <a:pt x="1278986" y="583051"/>
                  <a:pt x="1176639" y="685399"/>
                  <a:pt x="1050386" y="685399"/>
                </a:cubicBezTo>
                <a:lnTo>
                  <a:pt x="228600" y="685399"/>
                </a:lnTo>
                <a:cubicBezTo>
                  <a:pt x="167972" y="685399"/>
                  <a:pt x="109826" y="709483"/>
                  <a:pt x="66956" y="752354"/>
                </a:cubicBezTo>
                <a:cubicBezTo>
                  <a:pt x="24085" y="795225"/>
                  <a:pt x="0" y="853370"/>
                  <a:pt x="0" y="913999"/>
                </a:cubicBezTo>
                <a:lnTo>
                  <a:pt x="0" y="1370798"/>
                </a:lnTo>
              </a:path>
            </a:pathLst>
          </a:custGeom>
          <a:ln cap="flat" w="38100">
            <a:solidFill>
              <a:srgbClr val="000000"/>
            </a:solidFill>
            <a:prstDash val="solid"/>
            <a:headEnd type="oval" len="lg" w="lg"/>
            <a:tailEnd type="none" len="sm" w="sm"/>
          </a:ln>
        </p:spPr>
      </p:sp>
      <p:sp>
        <p:nvSpPr>
          <p:cNvPr name="Freeform 8" id="8"/>
          <p:cNvSpPr/>
          <p:nvPr/>
        </p:nvSpPr>
        <p:spPr>
          <a:xfrm>
            <a:off x="8861184" y="5671653"/>
            <a:ext cx="0" cy="381797"/>
          </a:xfrm>
          <a:custGeom>
            <a:avLst/>
            <a:gdLst/>
            <a:ahLst/>
            <a:cxnLst/>
            <a:rect r="r" b="b" t="t" l="l"/>
            <a:pathLst>
              <a:path h="381797" w="0">
                <a:moveTo>
                  <a:pt x="0" y="381796"/>
                </a:moveTo>
                <a:lnTo>
                  <a:pt x="0" y="0"/>
                </a:lnTo>
              </a:path>
            </a:pathLst>
          </a:custGeom>
          <a:ln cap="flat" w="38100">
            <a:solidFill>
              <a:srgbClr val="000000"/>
            </a:solidFill>
            <a:prstDash val="solid"/>
            <a:headEnd type="oval" len="lg" w="lg"/>
            <a:tailEnd type="none" len="sm" w="sm"/>
          </a:ln>
        </p:spPr>
      </p:sp>
      <p:sp>
        <p:nvSpPr>
          <p:cNvPr name="Freeform 9" id="9"/>
          <p:cNvSpPr/>
          <p:nvPr/>
        </p:nvSpPr>
        <p:spPr>
          <a:xfrm flipH="false" flipV="false" rot="0">
            <a:off x="15386684" y="8309901"/>
            <a:ext cx="3745232" cy="3745232"/>
          </a:xfrm>
          <a:custGeom>
            <a:avLst/>
            <a:gdLst/>
            <a:ahLst/>
            <a:cxnLst/>
            <a:rect r="r" b="b" t="t" l="l"/>
            <a:pathLst>
              <a:path h="3745232" w="3745232">
                <a:moveTo>
                  <a:pt x="0" y="0"/>
                </a:moveTo>
                <a:lnTo>
                  <a:pt x="3745232" y="0"/>
                </a:lnTo>
                <a:lnTo>
                  <a:pt x="3745232" y="3745231"/>
                </a:lnTo>
                <a:lnTo>
                  <a:pt x="0" y="3745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1040282" y="8309901"/>
            <a:ext cx="3745232" cy="3745232"/>
          </a:xfrm>
          <a:custGeom>
            <a:avLst/>
            <a:gdLst/>
            <a:ahLst/>
            <a:cxnLst/>
            <a:rect r="r" b="b" t="t" l="l"/>
            <a:pathLst>
              <a:path h="3745232" w="3745232">
                <a:moveTo>
                  <a:pt x="3745232" y="0"/>
                </a:moveTo>
                <a:lnTo>
                  <a:pt x="0" y="0"/>
                </a:lnTo>
                <a:lnTo>
                  <a:pt x="0" y="3745231"/>
                </a:lnTo>
                <a:lnTo>
                  <a:pt x="3745232" y="3745231"/>
                </a:lnTo>
                <a:lnTo>
                  <a:pt x="374523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IMPLEMENTATION</a:t>
            </a:r>
          </a:p>
        </p:txBody>
      </p:sp>
      <p:sp>
        <p:nvSpPr>
          <p:cNvPr id="4" name="TextBox 3"/>
          <p:cNvSpPr txBox="1"/>
          <p:nvPr/>
        </p:nvSpPr>
        <p:spPr>
          <a:xfrm>
            <a:off x="2022720" y="2300000"/>
            <a:ext cx="3500000" cy="6000000"/>
          </a:xfrm>
          <a:prstGeom prst="rect">
            <a:avLst/>
          </a:prstGeom>
          <a:noFill/>
        </p:spPr>
        <p:txBody>
          <a:bodyPr wrap="square" lIns="0" rIns="0" tIns="0" bIns="0">
            <a:spAutoFit/>
          </a:bodyPr>
          <a:lstStyle/>
          <a:p>
            <a:pPr algn="l">
              <a:spcAft>
                <a:spcPts val="1000"/>
              </a:spcAft>
            </a:pPr>
            <a:r>
              <a:rPr sz="3380" b="1">
                <a:solidFill>
                  <a:srgbClr val="000000"/>
                </a:solidFill>
                <a:latin typeface="Arimo Bold"/>
                <a:ea typeface="Arimo Bold"/>
                <a:cs typeface="Arimo Bold"/>
                <a:sym typeface="Arimo Bold"/>
              </a:rPr>
              <a:t>1 · Data</a:t>
            </a:r>
          </a:p>
          <a:p>
            <a:pPr algn="l">
              <a:spcAft>
                <a:spcPts val="1000"/>
              </a:spcAft>
            </a:pPr>
            <a:r>
              <a:rPr sz="2210" b="0">
                <a:solidFill>
                  <a:srgbClr val="000000"/>
                </a:solidFill>
                <a:latin typeface="Glacial Indifference"/>
                <a:ea typeface="Glacial Indifference"/>
                <a:cs typeface="Glacial Indifference"/>
                <a:sym typeface="Glacial Indifference"/>
              </a:rPr>
              <a:t>Amrit</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RBI Payment System Indicators</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NPCI UPI Product Statistics</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Cleaned to monthly CSVs in a fixed schema</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Output: 3 clean files + data dictionary</a:t>
            </a:r>
          </a:p>
        </p:txBody>
      </p:sp>
      <p:sp>
        <p:nvSpPr>
          <p:cNvPr id="5" name="TextBox 4"/>
          <p:cNvSpPr txBox="1"/>
          <p:nvPr/>
        </p:nvSpPr>
        <p:spPr>
          <a:xfrm>
            <a:off x="5852720" y="2300000"/>
            <a:ext cx="3500000" cy="6000000"/>
          </a:xfrm>
          <a:prstGeom prst="rect">
            <a:avLst/>
          </a:prstGeom>
          <a:noFill/>
        </p:spPr>
        <p:txBody>
          <a:bodyPr wrap="square" lIns="0" rIns="0" tIns="0" bIns="0">
            <a:spAutoFit/>
          </a:bodyPr>
          <a:lstStyle/>
          <a:p>
            <a:pPr algn="l">
              <a:spcAft>
                <a:spcPts val="1000"/>
              </a:spcAft>
            </a:pPr>
            <a:r>
              <a:rPr sz="3380" b="1">
                <a:solidFill>
                  <a:srgbClr val="000000"/>
                </a:solidFill>
                <a:latin typeface="Arimo Bold"/>
                <a:ea typeface="Arimo Bold"/>
                <a:cs typeface="Arimo Bold"/>
                <a:sym typeface="Arimo Bold"/>
              </a:rPr>
              <a:t>2 · Analysis (Unit 1)</a:t>
            </a:r>
          </a:p>
          <a:p>
            <a:pPr algn="l">
              <a:spcAft>
                <a:spcPts val="1000"/>
              </a:spcAft>
            </a:pPr>
            <a:r>
              <a:rPr sz="2210" b="0">
                <a:solidFill>
                  <a:srgbClr val="000000"/>
                </a:solidFill>
                <a:latin typeface="Glacial Indifference"/>
                <a:ea typeface="Glacial Indifference"/>
                <a:cs typeface="Glacial Indifference"/>
                <a:sym typeface="Glacial Indifference"/>
              </a:rPr>
              <a:t>Krishna</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Python: growth rates, share, ticket size</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Trend test and anomaly flags</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Output: eda_metrics, key_insights</a:t>
            </a:r>
          </a:p>
        </p:txBody>
      </p:sp>
      <p:cxnSp>
        <p:nvCxnSpPr>
          <p:cNvPr id="6" name="Connector 5"/>
          <p:cNvCxnSpPr/>
          <p:nvPr/>
        </p:nvCxnSpPr>
        <p:spPr>
          <a:xfrm>
            <a:off x="5687720" y="2300000"/>
            <a:ext cx="0" cy="52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682720" y="2300000"/>
            <a:ext cx="3500000" cy="6000000"/>
          </a:xfrm>
          <a:prstGeom prst="rect">
            <a:avLst/>
          </a:prstGeom>
          <a:noFill/>
        </p:spPr>
        <p:txBody>
          <a:bodyPr wrap="square" lIns="0" rIns="0" tIns="0" bIns="0">
            <a:spAutoFit/>
          </a:bodyPr>
          <a:lstStyle/>
          <a:p>
            <a:pPr algn="l">
              <a:spcAft>
                <a:spcPts val="1000"/>
              </a:spcAft>
            </a:pPr>
            <a:r>
              <a:rPr sz="3380" b="1">
                <a:solidFill>
                  <a:srgbClr val="000000"/>
                </a:solidFill>
                <a:latin typeface="Arimo Bold"/>
                <a:ea typeface="Arimo Bold"/>
                <a:cs typeface="Arimo Bold"/>
                <a:sym typeface="Arimo Bold"/>
              </a:rPr>
              <a:t>3 · Narrative (Unit 2)</a:t>
            </a:r>
          </a:p>
          <a:p>
            <a:pPr algn="l">
              <a:spcAft>
                <a:spcPts val="1000"/>
              </a:spcAft>
            </a:pPr>
            <a:r>
              <a:rPr sz="2210" b="0">
                <a:solidFill>
                  <a:srgbClr val="000000"/>
                </a:solidFill>
                <a:latin typeface="Glacial Indifference"/>
                <a:ea typeface="Glacial Indifference"/>
                <a:cs typeface="Glacial Indifference"/>
                <a:sym typeface="Glacial Indifference"/>
              </a:rPr>
              <a:t>Jaanhavi</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Power BI story page</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Hook → Build-up → Insight → Conclusion</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Annotated turning point</a:t>
            </a:r>
          </a:p>
        </p:txBody>
      </p:sp>
      <p:cxnSp>
        <p:nvCxnSpPr>
          <p:cNvPr id="8" name="Connector 7"/>
          <p:cNvCxnSpPr/>
          <p:nvPr/>
        </p:nvCxnSpPr>
        <p:spPr>
          <a:xfrm>
            <a:off x="9517720" y="2300000"/>
            <a:ext cx="0" cy="52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3512720" y="2300000"/>
            <a:ext cx="3500000" cy="6000000"/>
          </a:xfrm>
          <a:prstGeom prst="rect">
            <a:avLst/>
          </a:prstGeom>
          <a:noFill/>
        </p:spPr>
        <p:txBody>
          <a:bodyPr wrap="square" lIns="0" rIns="0" tIns="0" bIns="0">
            <a:spAutoFit/>
          </a:bodyPr>
          <a:lstStyle/>
          <a:p>
            <a:pPr algn="l">
              <a:spcAft>
                <a:spcPts val="1000"/>
              </a:spcAft>
            </a:pPr>
            <a:r>
              <a:rPr sz="3380" b="1">
                <a:solidFill>
                  <a:srgbClr val="000000"/>
                </a:solidFill>
                <a:latin typeface="Arimo Bold"/>
                <a:ea typeface="Arimo Bold"/>
                <a:cs typeface="Arimo Bold"/>
                <a:sym typeface="Arimo Bold"/>
              </a:rPr>
              <a:t>4 · Interactive (Unit 3)</a:t>
            </a:r>
          </a:p>
          <a:p>
            <a:pPr algn="l">
              <a:spcAft>
                <a:spcPts val="1000"/>
              </a:spcAft>
            </a:pPr>
            <a:r>
              <a:rPr sz="2210" b="0">
                <a:solidFill>
                  <a:srgbClr val="000000"/>
                </a:solidFill>
                <a:latin typeface="Glacial Indifference"/>
                <a:ea typeface="Glacial Indifference"/>
                <a:cs typeface="Glacial Indifference"/>
                <a:sym typeface="Glacial Indifference"/>
              </a:rPr>
              <a:t>Kushi</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Date and payment-method slicers</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Year → Quarter → Month drill-down</a:t>
            </a:r>
          </a:p>
          <a:p>
            <a:pPr algn="l" marL="342900" indent="-342900">
              <a:spcAft>
                <a:spcPts val="1140"/>
              </a:spcAft>
              <a:buFont typeface="Arial"/>
              <a:buChar char="•"/>
            </a:pPr>
            <a:r>
              <a:rPr sz="2470" b="0">
                <a:solidFill>
                  <a:srgbClr val="000000"/>
                </a:solidFill>
                <a:latin typeface="Glacial Indifference"/>
                <a:ea typeface="Glacial Indifference"/>
                <a:cs typeface="Glacial Indifference"/>
                <a:sym typeface="Glacial Indifference"/>
              </a:rPr>
              <a:t>Cross-filtering between charts</a:t>
            </a:r>
          </a:p>
        </p:txBody>
      </p:sp>
      <p:cxnSp>
        <p:nvCxnSpPr>
          <p:cNvPr id="10" name="Connector 9"/>
          <p:cNvCxnSpPr/>
          <p:nvPr/>
        </p:nvCxnSpPr>
        <p:spPr>
          <a:xfrm>
            <a:off x="13347720" y="2300000"/>
            <a:ext cx="0" cy="52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022720" y="8300000"/>
            <a:ext cx="14000000" cy="600000"/>
          </a:xfrm>
          <a:prstGeom prst="rect">
            <a:avLst/>
          </a:prstGeom>
          <a:noFill/>
        </p:spPr>
        <p:txBody>
          <a:bodyPr wrap="square" lIns="0" rIns="0" tIns="0" bIns="0">
            <a:spAutoFit/>
          </a:bodyPr>
          <a:lstStyle/>
          <a:p>
            <a:pPr algn="l">
              <a:spcAft>
                <a:spcPts val="1000"/>
              </a:spcAft>
            </a:pPr>
            <a:r>
              <a:rPr sz="1700" b="0">
                <a:solidFill>
                  <a:srgbClr val="000000"/>
                </a:solidFill>
                <a:latin typeface="Glacial Indifference"/>
                <a:ea typeface="Glacial Indifference"/>
                <a:cs typeface="Glacial Indifference"/>
                <a:sym typeface="Glacial Indifference"/>
              </a:rPr>
              <a:t>Shared data contract and repo: github.com/[team]/upi-data-story (folder per owner, one .pbix per person until the final merge).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KEY INSIGHTS</a:t>
            </a:r>
          </a:p>
        </p:txBody>
      </p:sp>
      <p:sp>
        <p:nvSpPr>
          <p:cNvPr id="4" name="TextBox 3"/>
          <p:cNvSpPr txBox="1"/>
          <p:nvPr/>
        </p:nvSpPr>
        <p:spPr>
          <a:xfrm>
            <a:off x="2022720" y="2300000"/>
            <a:ext cx="70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What the data shows</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UPI grew from [X] million to [Y] million transactions a month, [start] to [end].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Its share of digital payment volume rose from [A]% to [B]%.</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[Month year]: UPI overtook all other methods in volume.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Volume grew [P]% a year, value [Q]%. [One line on what this means.]</a:t>
            </a:r>
          </a:p>
        </p:txBody>
      </p:sp>
      <p:cxnSp>
        <p:nvCxnSpPr>
          <p:cNvPr id="5" name="Connector 4"/>
          <p:cNvCxnSpPr/>
          <p:nvPr/>
        </p:nvCxnSpPr>
        <p:spPr>
          <a:xfrm>
            <a:off x="9400000" y="2300000"/>
            <a:ext cx="0" cy="6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00000" y="2300000"/>
            <a:ext cx="63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Evidence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Dashboard screenshot: insight chart with the turning point highlighted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Trend test: [test], p = [value]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Anomalies flagged: [months and reasons]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DASHBOARD DEMO</a:t>
            </a:r>
          </a:p>
        </p:txBody>
      </p:sp>
      <p:sp>
        <p:nvSpPr>
          <p:cNvPr id="4" name="TextBox 3"/>
          <p:cNvSpPr txBox="1"/>
          <p:nvPr/>
        </p:nvSpPr>
        <p:spPr>
          <a:xfrm>
            <a:off x="2022720" y="2300000"/>
            <a:ext cx="70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Guided story</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Hook: UPI volume and value over time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Build-up: share by payment method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Insight: the turning point, highlighted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Conclusion: the takeaway</a:t>
            </a:r>
          </a:p>
        </p:txBody>
      </p:sp>
      <p:cxnSp>
        <p:nvCxnSpPr>
          <p:cNvPr id="5" name="Connector 4"/>
          <p:cNvCxnSpPr/>
          <p:nvPr/>
        </p:nvCxnSpPr>
        <p:spPr>
          <a:xfrm>
            <a:off x="9400000" y="2300000"/>
            <a:ext cx="0" cy="6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00000" y="2300000"/>
            <a:ext cx="63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Then explore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Date range and payment-method slicers</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Drill down: Year → Quarter → Month</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Click a method to cross-filter every chart</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Reset bookmark returns to the 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true" rot="1693826">
            <a:off x="16406758" y="-3566153"/>
            <a:ext cx="3762484" cy="5929415"/>
          </a:xfrm>
          <a:custGeom>
            <a:avLst/>
            <a:gdLst/>
            <a:ahLst/>
            <a:cxnLst/>
            <a:rect r="r" b="b" t="t" l="l"/>
            <a:pathLst>
              <a:path h="5929415" w="3762484">
                <a:moveTo>
                  <a:pt x="0" y="5929416"/>
                </a:moveTo>
                <a:lnTo>
                  <a:pt x="3762484" y="5929416"/>
                </a:lnTo>
                <a:lnTo>
                  <a:pt x="3762484" y="0"/>
                </a:lnTo>
                <a:lnTo>
                  <a:pt x="0" y="0"/>
                </a:lnTo>
                <a:lnTo>
                  <a:pt x="0" y="59294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2022720" y="800000"/>
            <a:ext cx="12000000" cy="1200000"/>
          </a:xfrm>
          <a:prstGeom prst="rect">
            <a:avLst/>
          </a:prstGeom>
          <a:noFill/>
        </p:spPr>
        <p:txBody>
          <a:bodyPr wrap="square" lIns="0" tIns="0" rIns="0" bIns="0">
            <a:spAutoFit/>
          </a:bodyPr>
          <a:lstStyle/>
          <a:p>
            <a:r>
              <a:rPr sz="6000" b="1">
                <a:solidFill>
                  <a:srgbClr val="000000"/>
                </a:solidFill>
                <a:latin typeface="Arimo Bold"/>
                <a:ea typeface="Arimo Bold"/>
                <a:cs typeface="Arimo Bold"/>
                <a:sym typeface="Arimo Bold"/>
              </a:rPr>
              <a:t>CONCLUSION</a:t>
            </a:r>
          </a:p>
        </p:txBody>
      </p:sp>
      <p:sp>
        <p:nvSpPr>
          <p:cNvPr id="4" name="TextBox 3"/>
          <p:cNvSpPr txBox="1"/>
          <p:nvPr/>
        </p:nvSpPr>
        <p:spPr>
          <a:xfrm>
            <a:off x="2022720" y="2300000"/>
            <a:ext cx="70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Takeaway</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[One-sentence answer to: how has UPI's share of digital payments changed?]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[Recommendation or implication]</a:t>
            </a:r>
          </a:p>
        </p:txBody>
      </p:sp>
      <p:cxnSp>
        <p:nvCxnSpPr>
          <p:cNvPr id="5" name="Connector 4"/>
          <p:cNvCxnSpPr/>
          <p:nvPr/>
        </p:nvCxnSpPr>
        <p:spPr>
          <a:xfrm>
            <a:off x="9400000" y="2300000"/>
            <a:ext cx="0" cy="6000000"/>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000000" y="2300000"/>
            <a:ext cx="6300000" cy="6500000"/>
          </a:xfrm>
          <a:prstGeom prst="rect">
            <a:avLst/>
          </a:prstGeom>
          <a:noFill/>
        </p:spPr>
        <p:txBody>
          <a:bodyPr wrap="square" lIns="0" rIns="0" tIns="0" bIns="0">
            <a:spAutoFit/>
          </a:bodyPr>
          <a:lstStyle/>
          <a:p>
            <a:pPr algn="l">
              <a:spcAft>
                <a:spcPts val="699"/>
              </a:spcAft>
            </a:pPr>
            <a:r>
              <a:rPr sz="2990" b="1">
                <a:solidFill>
                  <a:srgbClr val="000000"/>
                </a:solidFill>
                <a:latin typeface="Arimo Bold"/>
                <a:ea typeface="Arimo Bold"/>
                <a:cs typeface="Arimo Bold"/>
                <a:sym typeface="Arimo Bold"/>
              </a:rPr>
              <a:t>Limits and next steps</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Aggregate monthly data: person-to-person and person-to-merchant payments cannot be separated</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Trends show association, not cause</a:t>
            </a:r>
          </a:p>
          <a:p>
            <a:pPr algn="l" marL="342900" indent="-342900">
              <a:spcAft>
                <a:spcPts val="719"/>
              </a:spcAft>
              <a:buFont typeface="Arial"/>
              <a:buChar char="•"/>
            </a:pPr>
            <a:r>
              <a:rPr sz="2185" b="0">
                <a:solidFill>
                  <a:srgbClr val="000000"/>
                </a:solidFill>
                <a:latin typeface="Glacial Indifference"/>
                <a:ea typeface="Glacial Indifference"/>
                <a:cs typeface="Glacial Indifference"/>
                <a:sym typeface="Glacial Indifference"/>
              </a:rPr>
              <a:t>Next: add app-level and regional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DAHT6wn9WB0</dc:identifier>
  <dcterms:modified xsi:type="dcterms:W3CDTF">2011-08-01T06:04:30Z</dcterms:modified>
  <cp:revision>1</cp:revision>
  <dc:title>VDUI - Mini Project</dc:title>
</cp:coreProperties>
</file>